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handoutMasterIdLst>
    <p:handoutMasterId r:id="rId13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358E15-4DD4-1EE5-5F26-055220ECD0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615FFF-901E-2639-E168-1290EE2993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C5653-8C4D-478F-A843-772023F0B844}" type="datetimeFigureOut">
              <a:rPr lang="en-IN" smtClean="0"/>
              <a:t>19-04-26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65401-DD18-5EE9-6FA3-DD88AC74AB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573FB-BE7E-125E-3E85-CB80CDFD0C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DB409-D98F-4C5F-908E-774AEC7CA8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2739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29430-9EB4-4729-962D-D4AE0C23F191}" type="datetimeFigureOut">
              <a:rPr lang="en-IN" smtClean="0"/>
              <a:t>19-04-26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682BF-D797-49FD-A151-0935B3AF7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222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A66C-524E-4971-81AE-9C2753CAC94D}" type="datetime1">
              <a:rPr lang="en-IN" smtClean="0"/>
              <a:t>19-04-26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231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B95-D793-47E0-84F1-53D8AAB78CE0}" type="datetime1">
              <a:rPr lang="en-IN" smtClean="0"/>
              <a:t>19-04-26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481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C99A-5FBE-4A0B-9377-3B1B0C710699}" type="datetime1">
              <a:rPr lang="en-IN" smtClean="0"/>
              <a:t>19-04-26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60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6025F-3808-4262-8D92-021F4CBA750D}" type="datetime1">
              <a:rPr lang="en-IN" smtClean="0"/>
              <a:t>19-04-26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01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07DBE-898B-428A-B48A-81A7DA71150F}" type="datetime1">
              <a:rPr lang="en-IN" smtClean="0"/>
              <a:t>19-04-26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90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0702-930D-4DC3-B37C-8DB974680534}" type="datetime1">
              <a:rPr lang="en-IN" smtClean="0"/>
              <a:t>19-04-26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223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5361-B4E1-4108-9613-D6A291C61D0D}" type="datetime1">
              <a:rPr lang="en-IN" smtClean="0"/>
              <a:t>19-04-26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38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4186-FA22-44DA-A810-AAC05314037F}" type="datetime1">
              <a:rPr lang="en-IN" smtClean="0"/>
              <a:t>19-04-26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8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73AC40C-0B89-490D-9ECA-D981276DD856}" type="datetime1">
              <a:rPr lang="en-IN" smtClean="0"/>
              <a:t>19-04-26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6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B2A4-C585-4A51-8469-2DC8E2E686CA}" type="datetime1">
              <a:rPr lang="en-IN" smtClean="0"/>
              <a:t>19-04-26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08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818C-89CD-4C0E-B0BE-4322E1F2007E}" type="datetime1">
              <a:rPr lang="en-IN" smtClean="0"/>
              <a:t>19-04-26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82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AE7B9-9D35-425A-A6CF-F7208480177F}" type="datetime1">
              <a:rPr lang="en-IN" smtClean="0"/>
              <a:t>19-04-26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D2B31E-AA02-46B2-98EF-CAA5A2839B3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86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BAD0-025E-8229-93F7-ACC8B7F13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AI Powered Road Damage Detection on Indian Roads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843D0-2AB6-3E72-1747-12EEC5703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Milestone 6: Model Optimization and Deployment</a:t>
            </a:r>
          </a:p>
          <a:p>
            <a:r>
              <a:rPr lang="en-US" dirty="0"/>
              <a:t>Team: Yash, Nishant, Rahul, Neeraj, </a:t>
            </a:r>
            <a:r>
              <a:rPr lang="en-US" dirty="0" err="1"/>
              <a:t>Kisalay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75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4920-3166-4F9E-50F3-FE9E06FA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Milestone 6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C33C-D255-CE56-C532-18C0C683D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1. Architectural Transition: YOLOv11 for advanced feature extraction.</a:t>
            </a:r>
          </a:p>
          <a:p>
            <a:r>
              <a:rPr lang="en-US"/>
              <a:t>2. Resource Management: Parallel training on Dual T4 GPUs.</a:t>
            </a:r>
          </a:p>
          <a:p>
            <a:r>
              <a:rPr lang="en-US"/>
              <a:t>3. Performance: Achieving mAP50 &gt; 0.54 within a 12-hour budget.</a:t>
            </a:r>
          </a:p>
          <a:p>
            <a:r>
              <a:rPr lang="en-US"/>
              <a:t>4. Deployment: INT8 Quantization and FastAPI implementation.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7F96-8962-C80E-1082-D8A61A29E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Architectural Upgrade: YOLOv11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0DEAC-0F46-F5CD-E12F-C3BBC8685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- Uses C3k2 blocks and C2PSA (Cross-Stage Partial Self-Attention).</a:t>
            </a:r>
          </a:p>
          <a:p>
            <a:r>
              <a:rPr lang="en-US"/>
              <a:t>- 42% fewer parameters than YOLOv8l with higher accuracy.</a:t>
            </a:r>
          </a:p>
          <a:p>
            <a:r>
              <a:rPr lang="en-US"/>
              <a:t>- Superior global dependency capturing for complex road textures.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03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4131-62D5-EDC1-680A-DCD6F016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Dataset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C4C7-EE40-D8BC-EFF9-3AEC2C439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- RDD2022-India Subset: ~6,500 images.</a:t>
            </a:r>
          </a:p>
          <a:p>
            <a:r>
              <a:rPr lang="en-US"/>
              <a:t>- CLAHE (Contrast Limited Adaptive Histogram Equalization).</a:t>
            </a:r>
          </a:p>
          <a:p>
            <a:r>
              <a:rPr lang="en-US"/>
              <a:t>- Copy-Paste Augmentation to address class imbalance (Potholes).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54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3704-1855-9DDF-2735-61B5C580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Kaggle T4x2 Parallel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08B81-50BC-15C2-46F4-98CE0C568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- Strategy: Progressive Escalation.</a:t>
            </a:r>
          </a:p>
          <a:p>
            <a:r>
              <a:rPr lang="en-US"/>
              <a:t>- Phase 1: imgsz=640 (Speed run).</a:t>
            </a:r>
          </a:p>
          <a:p>
            <a:r>
              <a:rPr lang="en-US"/>
              <a:t>- Phase 2: imgsz=800 (Precision run).</a:t>
            </a:r>
          </a:p>
          <a:p>
            <a:r>
              <a:rPr lang="en-US"/>
              <a:t>- Total session time: ~9.5 hours.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F1C25-FB27-736E-E8F5-56203869F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355" y="2015732"/>
            <a:ext cx="5274499" cy="215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8426-CBE3-BD3D-ED1E-1CE345DD0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D8968-0BB8-3DC0-F6D1-F9375009D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014272" cy="3450613"/>
          </a:xfrm>
        </p:spPr>
        <p:txBody>
          <a:bodyPr/>
          <a:lstStyle/>
          <a:p>
            <a:r>
              <a:rPr lang="en-US" dirty="0"/>
              <a:t>- Final mAP50: 0.542 (Target &gt; 0.54 Achieved).</a:t>
            </a:r>
          </a:p>
          <a:p>
            <a:r>
              <a:rPr lang="en-US" dirty="0"/>
              <a:t>- TTA (Test-Time Augmentation) provided +0.02 </a:t>
            </a:r>
            <a:r>
              <a:rPr lang="en-US" dirty="0" err="1"/>
              <a:t>mAP</a:t>
            </a:r>
            <a:r>
              <a:rPr lang="en-US" dirty="0"/>
              <a:t> boost.</a:t>
            </a:r>
          </a:p>
          <a:p>
            <a:r>
              <a:rPr lang="en-US" dirty="0"/>
              <a:t>- Sub-100ms latency on CPU via ONNX/</a:t>
            </a:r>
            <a:r>
              <a:rPr lang="en-US" dirty="0" err="1"/>
              <a:t>OpenVINO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8FA013-91BE-AFB0-14DD-5D62E0692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095" y="2015732"/>
            <a:ext cx="6697616" cy="403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5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D916-08E1-F165-16DC-CE0B3B45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CC9E9-7E89-F76A-BB07-6E2514183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- Export Formats: PyTorch, ONNX, OpenVINO.</a:t>
            </a:r>
          </a:p>
          <a:p>
            <a:r>
              <a:rPr lang="en-IN"/>
              <a:t>- INT8 Quantization: 70% reduction in model size.</a:t>
            </a:r>
          </a:p>
          <a:p>
            <a:r>
              <a:rPr lang="en-IN"/>
              <a:t>- Maintains 15.42+ FPS target for mobile inspection.</a:t>
            </a:r>
          </a:p>
        </p:txBody>
      </p:sp>
    </p:spTree>
    <p:extLst>
      <p:ext uri="{BB962C8B-B14F-4D97-AF65-F5344CB8AC3E}">
        <p14:creationId xmlns:p14="http://schemas.microsoft.com/office/powerpoint/2010/main" val="40919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02FCB-1A89-FDF1-5389-1CB98A44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FastAPI Production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09E9-DFD6-AE89-8913-1A4316355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147837" cy="3450613"/>
          </a:xfrm>
        </p:spPr>
        <p:txBody>
          <a:bodyPr/>
          <a:lstStyle/>
          <a:p>
            <a:r>
              <a:rPr lang="en-US" dirty="0"/>
              <a:t>- Endpoint: /predict for real-time detection.</a:t>
            </a:r>
          </a:p>
          <a:p>
            <a:r>
              <a:rPr lang="en-US" dirty="0"/>
              <a:t>- Returns: Class labels, Bounding Boxes, and Confidence.</a:t>
            </a:r>
          </a:p>
          <a:p>
            <a:r>
              <a:rPr lang="en-US" dirty="0"/>
              <a:t>- Ready for Geotagging integration via smartphone GPS.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105FC-3720-AC01-EE57-F6E1332F8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084" y="2015732"/>
            <a:ext cx="6451568" cy="403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78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AB91-2297-CCF8-4121-4E49D333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E1B69-B877-B1AE-BCC8-693A3FB40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- Delivered an end-to-end AI pipeline for road monitoring.</a:t>
            </a:r>
          </a:p>
          <a:p>
            <a:r>
              <a:rPr lang="en-US"/>
              <a:t>- Successfully balanced high-accuracy with real-time hardware constraints.</a:t>
            </a:r>
          </a:p>
          <a:p>
            <a:r>
              <a:rPr lang="en-US"/>
              <a:t>- Validated for unique road conditions of India.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778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F9871F-1210-1277-6A49-0FCBF7069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272823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72</TotalTime>
  <Words>316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Gill Sans MT</vt:lpstr>
      <vt:lpstr>Gallery</vt:lpstr>
      <vt:lpstr>AI Powered Road Damage Detection on Indian Roads</vt:lpstr>
      <vt:lpstr>Milestone 6 Objectives</vt:lpstr>
      <vt:lpstr>Architectural Upgrade: YOLOv11</vt:lpstr>
      <vt:lpstr>Dataset &amp; Preprocessing</vt:lpstr>
      <vt:lpstr>Kaggle T4x2 Parallel Training</vt:lpstr>
      <vt:lpstr>Performance Metrics</vt:lpstr>
      <vt:lpstr>Deployment Optimization</vt:lpstr>
      <vt:lpstr>FastAPI Production Server</vt:lpstr>
      <vt:lpstr>Project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Neeraj Yadav</dc:creator>
  <cp:lastModifiedBy>Neeraj Yadav</cp:lastModifiedBy>
  <cp:revision>3</cp:revision>
  <dcterms:created xsi:type="dcterms:W3CDTF">2026-04-19T16:20:10Z</dcterms:created>
  <dcterms:modified xsi:type="dcterms:W3CDTF">2026-04-19T17:32:34Z</dcterms:modified>
</cp:coreProperties>
</file>